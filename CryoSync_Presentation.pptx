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3" r:id="rId24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728716" y="932688"/>
            <a:ext cx="731520" cy="731520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720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9601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CryoSync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4114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COLD-CHAIN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 real-time pharmaceutical cold-chain warehouse management platform — powered by an AI operations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93852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Real-Time WMS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59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04338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4338" y="4617720"/>
            <a:ext cx="193852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AI Agent “Kyra”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8658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60036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36" y="4617720"/>
            <a:ext cx="193852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Voice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4355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15733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5733" y="4617720"/>
            <a:ext cx="193852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Mobile Dock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0053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71432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4617720"/>
            <a:ext cx="193852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Compliance &amp;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45752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React 19  ·  Vite 8  ·  FastAPI  ·  PostgreSQL  ·  Databricks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01  ·  THE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The Problem in Cold-Chain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06040" cy="3794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" cy="3794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822959" y="2194560"/>
            <a:ext cx="658368" cy="658368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48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1" y="2286000"/>
            <a:ext cx="1371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Temperature Excursions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08960"/>
            <a:ext cx="205740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Shipments lose integrity in transit. Without live visibility, excursion damage is discovered too late — after product is already compromised.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7184" y="1828800"/>
            <a:ext cx="2606040" cy="3794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7184" y="1828800"/>
            <a:ext cx="64008" cy="3794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3651504" y="2194560"/>
            <a:ext cx="658368" cy="658368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48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6176" y="2286000"/>
            <a:ext cx="1371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Fragmented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1504" y="3108960"/>
            <a:ext cx="205740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Data scattered across facilities, spreadsheets, and disconnected systems. No single source of truth for shipments, lots, or storage zones.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728" y="1828800"/>
            <a:ext cx="2606040" cy="3794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728" y="1828800"/>
            <a:ext cx="64008" cy="3794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6480048" y="2194560"/>
            <a:ext cx="658368" cy="658368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48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4720" y="2286000"/>
            <a:ext cx="1371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Manual, Slow Receiving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48" y="3108960"/>
            <a:ext cx="205740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Dock teams hand-key intake data, fill paperwork, and eyeball barcodes. Errors propagate upstream into inventory and compliance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1828800"/>
            <a:ext cx="2606040" cy="3794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4272" y="1828800"/>
            <a:ext cx="64008" cy="3794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308592" y="2194560"/>
            <a:ext cx="658368" cy="658368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48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2286000"/>
            <a:ext cx="1371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Compliance &amp; Audit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108960"/>
            <a:ext cx="205740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Missing COAs, broken cold chains, and unlogged deviations threaten regulatory-notifiable events and quality 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70448"/>
            <a:ext cx="11091672" cy="50292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70448"/>
            <a:ext cx="11091672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Cost of failure: wasted product, rejected lots, regulatory penalties, and damaged customer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03  ·  THE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The Solution — CryoSync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105156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 unified, real-time command center for cold-chain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CryoSync tracks every incoming shipment from dock to storage zone — capturing temperature readings, flagging excursions, and managing quality decisions — while an embedded AI agent turns operations data into instant answers and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538728" cy="24688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3538728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703320"/>
            <a:ext cx="29900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1.  See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51960"/>
            <a:ext cx="29900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Live dashboards, KPIs and charts across shipments, temperature compliance, inventory, and supplier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3383280"/>
            <a:ext cx="3538728" cy="24688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3383280"/>
            <a:ext cx="3538728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3703320"/>
            <a:ext cx="29900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2.  Act Confidently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4251960"/>
            <a:ext cx="29900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Stage-based receiving workflows, barcode scanning, excursion flags, and quality holds with full audit trails.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383280"/>
            <a:ext cx="3538728" cy="24688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3383280"/>
            <a:ext cx="3538728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3703320"/>
            <a:ext cx="29900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3.  Ask Anything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4251960"/>
            <a:ext cx="29900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“Kyra” — a Databricks-powered assistant that answers in plain English and performs actions by voice or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04  · 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Key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04672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Kyra 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Natural-language answers about shipments, inventory, compliance, and platform health — backed by real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4581144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AI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Start receiving, update statuses, create intakes, and resolve incidents through the agent — permission-gated.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8357615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Voice-Activated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Hands-free operation with live voice-activity feedback, auto-submit, and spoken replies.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804672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Real-Time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Every shipment’s status, temperature regime, condition, and flags live and current.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4581144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Barcode Intake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Multi-step receiving form plus live camera scanning for QR, Code128, EAN, and more.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8357615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Compliance &amp;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Excursion trends, incident management, near-expiry alerts, and regulatory notifiability.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05  ·  LIVE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Command Center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5176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ACTIVE SHIPMENTS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12848"/>
            <a:ext cx="221284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6148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in the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2248" y="18288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2248" y="1828800"/>
            <a:ext cx="265176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704" y="193852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INVENTORY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704" y="2212848"/>
            <a:ext cx="221284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$4.2M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704" y="276148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across 6 facilities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5857" y="18288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5857" y="1828800"/>
            <a:ext cx="265176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5313" y="193852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OPEN 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5313" y="2212848"/>
            <a:ext cx="221284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5313" y="276148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2 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9466" y="18288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9466" y="1828800"/>
            <a:ext cx="26517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922" y="193852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COMPLIANCE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922" y="2212848"/>
            <a:ext cx="221284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97.8%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922" y="276148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target 95%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520440"/>
            <a:ext cx="6583680" cy="2651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3657600"/>
            <a:ext cx="603504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CHART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114800"/>
            <a:ext cx="22860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■  Shipment Trend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114800"/>
            <a:ext cx="36576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multi-line: received / quarantined / rejected over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645152"/>
            <a:ext cx="22860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■  Temperature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645152"/>
            <a:ext cx="36576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per-zone bar cells vs. 95% compliance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175504"/>
            <a:ext cx="22860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■  Excursion Trends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175504"/>
            <a:ext cx="36576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composed bars + critical-line alert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705856"/>
            <a:ext cx="22860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■  Inventory &amp; Expiry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705856"/>
            <a:ext cx="36576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distribution by zone and expiry-timeline runway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520440"/>
            <a:ext cx="4325112" cy="2651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657600"/>
            <a:ext cx="38404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ROLE-AWARE &amp; EXPORTABLE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160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Facility &amp; date-range filters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5445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KPI set adapts to the logged-in role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92861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Supplier performance &amp; quality 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31266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One-click JSON export for downstream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Charts: Recharts · Live queries via TanStack Query (30s staleness) · Framer Motion transitions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06  ·  SHIPMENTS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Shipment Lifecycle &amp; Stage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0972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Every shipment moves through a governed pipeline. Each stage exposes exactly the right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157276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2121408"/>
            <a:ext cx="219456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121408"/>
            <a:ext cx="157276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In Transit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121408"/>
            <a:ext cx="219456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121408"/>
            <a:ext cx="157276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Arrived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5" y="2121408"/>
            <a:ext cx="219456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121408"/>
            <a:ext cx="157276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Receiving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121408"/>
            <a:ext cx="219456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121408"/>
            <a:ext cx="157276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Quarantined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121408"/>
            <a:ext cx="219456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121408"/>
            <a:ext cx="157276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Released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52928"/>
            <a:ext cx="73152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Terminal states:  Released · Rejected · Returned  — no further status actions.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91840"/>
            <a:ext cx="5577840" cy="26974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3429000"/>
            <a:ext cx="50292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STAGE-BASED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840480"/>
            <a:ext cx="27432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Scheduled / In Transit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840480"/>
            <a:ext cx="23774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Mark Arrived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233672"/>
            <a:ext cx="27432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Arrived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233672"/>
            <a:ext cx="23774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Start Receiving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626864"/>
            <a:ext cx="27432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Receiving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626864"/>
            <a:ext cx="23774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Release · Quarantine · Reject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020055"/>
            <a:ext cx="27432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Quarantined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020055"/>
            <a:ext cx="23774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Release · Reject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5413247"/>
            <a:ext cx="27432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Any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413247"/>
            <a:ext cx="23774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View · Delete (supervisor)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291840"/>
            <a:ext cx="5285232" cy="26974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429000"/>
            <a:ext cx="47548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AUTO-DERIVED FLAGS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858768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3840480"/>
            <a:ext cx="26517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temperature_excursion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840480"/>
            <a:ext cx="1874519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out-of-range logger readings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4251959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4233672"/>
            <a:ext cx="26517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damaged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233672"/>
            <a:ext cx="1874519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condition “damaged” on arrival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4645151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4626864"/>
            <a:ext cx="26517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missing_coa / missing_coc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626864"/>
            <a:ext cx="1874519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paperwork gaps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5038343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5020055"/>
            <a:ext cx="26517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hazardous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020055"/>
            <a:ext cx="1874519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dangerous-goods materials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5431535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03720" y="5413247"/>
            <a:ext cx="26517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near_expiry / high_priority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413247"/>
            <a:ext cx="1874519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time-sensitive product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07  ·  RECEIVING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Multi-Step Intake &amp; Barcode Scanning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80644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530352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NEW INTAKE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2468880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450592"/>
            <a:ext cx="4754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Shipment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724912"/>
            <a:ext cx="4754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carrier, tracking #, bill of lading, supplier, origin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3328416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310128"/>
            <a:ext cx="4754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Product &amp;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584448"/>
            <a:ext cx="4754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category, temperature regime, storage zone, priority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4187952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169664"/>
            <a:ext cx="4754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Temperatures &amp; loggers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443984"/>
            <a:ext cx="4754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attach loggers, upload CSV readings</a:t>
            </a:r>
          </a:p>
        </p:txBody>
      </p:sp>
      <p:sp>
        <p:nvSpPr>
          <p:cNvPr id="19" name="Oval 18"/>
          <p:cNvSpPr/>
          <p:nvPr/>
        </p:nvSpPr>
        <p:spPr>
          <a:xfrm>
            <a:off x="822959" y="5047488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5029200"/>
            <a:ext cx="4754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Submit &amp;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5303520"/>
            <a:ext cx="4754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zod-validated; flags computed on save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828800"/>
            <a:ext cx="5010912" cy="20116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956816"/>
            <a:ext cx="438912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LIVE BARCODE 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3957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@zxing/library camera decoding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7614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QR, Code128, EAN, Code39 and more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1272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Native BarcodeDetector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930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Instant lookup of shipment / lot / bin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4023360"/>
            <a:ext cx="5010912" cy="20116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151376"/>
            <a:ext cx="438912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TEMPERATURE LOGGER 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5902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Register loggers &amp; models to a shipment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9560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Bulk CSV upload — timestamp, temp, 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3218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Excursions auto-detected against the regime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6875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Received date + condition stamped on release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08  ·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Compliance &amp; Risk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67512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603504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INCIDENT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10 deviation types — excursions, documentation gaps, quality deviations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9008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4 severities · status flow open → investigating → resolved /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5701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Regulatory-notifiable flags for reportable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23944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Assign, resolve, and full audit-trail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9087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Filters: status · severity · type · facility ·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578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KPIs: open incidents, avg resolution time, regulatory-notifiable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4142232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956816"/>
            <a:ext cx="36576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RISK MONITOR</a:t>
            </a:r>
          </a:p>
        </p:txBody>
      </p:sp>
      <p:sp>
        <p:nvSpPr>
          <p:cNvPr id="18" name="Hexagon 17"/>
          <p:cNvSpPr/>
          <p:nvPr/>
        </p:nvSpPr>
        <p:spPr>
          <a:xfrm>
            <a:off x="7772400" y="2395728"/>
            <a:ext cx="310896" cy="310896"/>
          </a:xfrm>
          <a:prstGeom prst="hexagon">
            <a:avLst/>
          </a:prstGeom>
          <a:solidFill>
            <a:srgbClr val="0A0F1E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6" b="0">
                <a:solidFill>
                  <a:srgbClr val="F87171"/>
                </a:solidFill>
                <a:latin typeface="Segoe UI Symbol"/>
                <a:ea typeface="Segoe UI"/>
                <a:cs typeface="Segoe UI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95728"/>
            <a:ext cx="32004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Critical incidents</a:t>
            </a:r>
          </a:p>
        </p:txBody>
      </p:sp>
      <p:sp>
        <p:nvSpPr>
          <p:cNvPr id="20" name="Hexagon 19"/>
          <p:cNvSpPr/>
          <p:nvPr/>
        </p:nvSpPr>
        <p:spPr>
          <a:xfrm>
            <a:off x="7772400" y="2871216"/>
            <a:ext cx="310896" cy="310896"/>
          </a:xfrm>
          <a:prstGeom prst="hexagon">
            <a:avLst/>
          </a:prstGeom>
          <a:solidFill>
            <a:srgbClr val="0A0F1E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6" b="0">
                <a:solidFill>
                  <a:srgbClr val="FBBF24"/>
                </a:solidFill>
                <a:latin typeface="Segoe UI Symbol"/>
                <a:ea typeface="Segoe UI"/>
                <a:cs typeface="Segoe U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71216"/>
            <a:ext cx="32004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Regulatory-notifiable</a:t>
            </a:r>
          </a:p>
        </p:txBody>
      </p:sp>
      <p:sp>
        <p:nvSpPr>
          <p:cNvPr id="22" name="Hexagon 21"/>
          <p:cNvSpPr/>
          <p:nvPr/>
        </p:nvSpPr>
        <p:spPr>
          <a:xfrm>
            <a:off x="7772400" y="3346704"/>
            <a:ext cx="310896" cy="310896"/>
          </a:xfrm>
          <a:prstGeom prst="hexagon">
            <a:avLst/>
          </a:prstGeom>
          <a:solidFill>
            <a:srgbClr val="0A0F1E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6" b="0">
                <a:solidFill>
                  <a:srgbClr val="FBBF24"/>
                </a:solidFill>
                <a:latin typeface="Segoe UI Symbol"/>
                <a:ea typeface="Segoe UI"/>
                <a:cs typeface="Segoe UI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46704"/>
            <a:ext cx="32004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Near-expiry lots  (≤30d)</a:t>
            </a:r>
          </a:p>
        </p:txBody>
      </p:sp>
      <p:sp>
        <p:nvSpPr>
          <p:cNvPr id="24" name="Hexagon 23"/>
          <p:cNvSpPr/>
          <p:nvPr/>
        </p:nvSpPr>
        <p:spPr>
          <a:xfrm>
            <a:off x="7772400" y="3822191"/>
            <a:ext cx="310896" cy="310896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6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822191"/>
            <a:ext cx="32004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Items on quality 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92040"/>
            <a:ext cx="3566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One-click “Report Issue” shortcut from the risk view opens a validated incident 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09  · 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Kyra — The AI Operations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67512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603504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HOW IT WORKS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2468880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450592"/>
            <a:ext cx="5394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Plain-English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724912"/>
            <a:ext cx="5394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voice or typed, e.g. “what vaccines are due this week?”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3328416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310128"/>
            <a:ext cx="5394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Kyra agent picks a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584448"/>
            <a:ext cx="5394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24 permission-gated tools mapped to your role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4187952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169664"/>
            <a:ext cx="5394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Real query against live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443984"/>
            <a:ext cx="5394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shipments, lots, incidents, audit log, system health</a:t>
            </a:r>
          </a:p>
        </p:txBody>
      </p:sp>
      <p:sp>
        <p:nvSpPr>
          <p:cNvPr id="19" name="Oval 18"/>
          <p:cNvSpPr/>
          <p:nvPr/>
        </p:nvSpPr>
        <p:spPr>
          <a:xfrm>
            <a:off x="822959" y="5047488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5029200"/>
            <a:ext cx="5394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Answer + action, spoken aloud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5303520"/>
            <a:ext cx="5394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reads replies back; confirms destructive actions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4142232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956816"/>
            <a:ext cx="36576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CAPABILITIES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3957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Answer: shipments, inventory, compliance, risk, KPIs, system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79806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Act: update status, start receiving, apply disposition, resolve incidents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2004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Voice in + voice out (Web Speech 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60273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Per-user persisted conversations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0050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Role-scoped system prompt &amp;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92040"/>
            <a:ext cx="3611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Databricks Model Serving · OpenAI-compatible API · Llama 3.3 70B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10  · 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91672" cy="3483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2232"/>
                <a:gridCol w="2331720"/>
                <a:gridCol w="2331720"/>
                <a:gridCol w="2286000"/>
              </a:tblGrid>
              <a:tr h="411480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  <a:ea typeface="Segoe UI"/>
                          <a:cs typeface="Segoe UI"/>
                        </a:rPr>
                        <a:t>Capability</a:t>
                      </a:r>
                    </a:p>
                  </a:txBody>
                  <a:tcPr anchor="ctr">
                    <a:solidFill>
                      <a:srgbClr val="1C2940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  <a:ea typeface="Segoe UI"/>
                          <a:cs typeface="Segoe UI"/>
                        </a:rPr>
                        <a:t>Dock Receiving</a:t>
                      </a:r>
                    </a:p>
                  </a:txBody>
                  <a:tcPr anchor="ctr">
                    <a:solidFill>
                      <a:srgbClr val="1C2940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  <a:ea typeface="Segoe UI"/>
                          <a:cs typeface="Segoe UI"/>
                        </a:rPr>
                        <a:t>Quality Assurance</a:t>
                      </a:r>
                    </a:p>
                  </a:txBody>
                  <a:tcPr anchor="ctr">
                    <a:solidFill>
                      <a:srgbClr val="1C2940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  <a:ea typeface="Segoe UI"/>
                          <a:cs typeface="Segoe UI"/>
                        </a:rPr>
                        <a:t>Supervisor</a:t>
                      </a:r>
                    </a:p>
                  </a:txBody>
                  <a:tcPr anchor="ctr">
                    <a:solidFill>
                      <a:srgbClr val="1C2940"/>
                    </a:solidFill>
                  </a:tcPr>
                </a:tc>
              </a:tr>
              <a:tr h="384048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Dashboards &amp; Reports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</a:tr>
              <a:tr h="384048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Receiving &amp; New Intake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</a:tr>
              <a:tr h="384048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Shipment Status Actions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</a:tr>
              <a:tr h="384048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Compliance &amp; Risk (incidents)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</a:tr>
              <a:tr h="384048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Resolve / Assign Incidents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</a:tr>
              <a:tr h="384048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Delete Shipments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</a:tr>
              <a:tr h="384048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Admin / System Health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</a:tr>
              <a:tr h="384048">
                <a:tc>
                  <a:txBody>
                    <a:bodyPr wrap="square" lIns="137160" tIns="18288" bIns="18288"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Kyra AI Assistant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 wrap="square" lIns="137160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Session auth with PBKDF2-SHA256 password hashing and 7-day bearer tokens. Page access, tools, and actions are all permission-gated.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11  · 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Technology Stack —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79192" cy="32918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7919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84831"/>
            <a:ext cx="2167128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27248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29584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Vite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31920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React Router v7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1828800"/>
            <a:ext cx="2679192" cy="32918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6432" y="1828800"/>
            <a:ext cx="267919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2084831"/>
            <a:ext cx="2167128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DATA &amp;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2724912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TanStack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3127248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Zustand (persisted)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3529584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React Hook Form + Zod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1828800"/>
            <a:ext cx="2679192" cy="32918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1828800"/>
            <a:ext cx="267919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084831"/>
            <a:ext cx="2167128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UI &amp; 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724912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Tailwind CSS 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127248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Base UI (shadcn-style)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3529584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Framer Motion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931920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Recharts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2016" y="1828800"/>
            <a:ext cx="2679192" cy="32918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72016" y="1828800"/>
            <a:ext cx="267919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28048" y="2084831"/>
            <a:ext cx="2167128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DEVICE &amp;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2724912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@zxing/library barcode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127248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Web Speech API (voice)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3529584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cmdk command palette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5000"/>
            </a:avLst>
          </a:prstGeom>
          <a:solidFill>
            <a:srgbClr val="1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Design system: Space Grotesk + Geist variable fonts · dark-first theme with light mode · cyan → sky → violet brand gradient · card-premium panels · staggered motion entrances · skeleton loading states.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12  · 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Backend &amp; Data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80644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530352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957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FastAPI  · 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626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45+ REST endpoints: auth, shipments, lots, storage zones, incidents, audit, dashboard,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9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PostgreSQL via asyncpg + psycopg2 (Databricks-hosted)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965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async I/O across the 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Agent bridge — Databricks Llama 3.3 70B tool-calling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30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LakeBase / DeltaLake catalog: tables, versions, metrics, optimize · vacuum · z-order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828800"/>
            <a:ext cx="5010912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956816"/>
            <a:ext cx="438912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DEMO DATASET (SEEDED)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395728"/>
            <a:ext cx="14630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441448"/>
            <a:ext cx="29260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shipments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62656"/>
            <a:ext cx="14630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008376"/>
            <a:ext cx="29260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inventory 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529584"/>
            <a:ext cx="14630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575304"/>
            <a:ext cx="29260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compliance incidents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096512"/>
            <a:ext cx="14630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142232"/>
            <a:ext cx="29260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storage zones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663440"/>
            <a:ext cx="14630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20 /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709160"/>
            <a:ext cx="29260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suppliers /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30368"/>
            <a:ext cx="14630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6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276088"/>
            <a:ext cx="29260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facilities / demo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623560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Deterministic generation (seed=42) for stable, realistic demos and QA.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13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How It All Fits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286000" cy="40233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2860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Web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Dock · QA ·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02152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Role-gated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04488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Mobile Dock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2651760"/>
            <a:ext cx="2011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1828800"/>
            <a:ext cx="2286000" cy="40233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83864" y="1828800"/>
            <a:ext cx="22860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2464" y="2084831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697480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3099816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Auth ·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4" y="3502152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Agent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3904488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Kyra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2651760"/>
            <a:ext cx="2011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1828800"/>
            <a:ext cx="2286000" cy="40233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19088" y="1828800"/>
            <a:ext cx="22860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2084831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2697480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099816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(DeltaLake)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502152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Shipments · Lots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3904488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Incidents ·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2651760"/>
            <a:ext cx="2011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54312" y="1828800"/>
            <a:ext cx="2286000" cy="40233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54312" y="1828800"/>
            <a:ext cx="22860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2912" y="2084831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2697480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Databricks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3099816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Llama 3.3 70B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3502152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Tool calling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904488"/>
            <a:ext cx="18288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Voice (Web Speech)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3310128"/>
            <a:ext cx="82296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REST ·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2" y="3310128"/>
            <a:ext cx="82296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SQL · asyncpg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544" y="3310128"/>
            <a:ext cx="8686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OpenAI-compatible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Requests flow one way; agent tools execute actions back through the same API with role-based permissions applied at each boundary.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14  ·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Mobile Dock-Receiver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04672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Scan &amp;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Camera barcode lookup of shipments, lots, and bins — details pre-filled from CryoSync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4581144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Guided Receiving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qty vs. ordered, expiry, condition + photos, documents, seal · coolant · label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8357615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Loggers &amp; 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attach loggers (serial · battery), upload readings, auto excursion flags + transit stats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804672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Clear Disposition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Accept to inventory · Quarantine · Reject — mandatory reason codes, QA notify, auto-incident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4581144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Live Inventory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In Stock · QA Hold · Quarantine · Low Stock · Expiring badges, expiry dates, temp zone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8357615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Issues &amp; Kyra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lot-linked incidents with assignees and due dates — Kyra answers in natural language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15  ·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Try It Yourself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722376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65836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WHAT YOU’LL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17373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395728"/>
            <a:ext cx="47548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live KPIs and compliance charts in under a second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54096"/>
            <a:ext cx="17373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Receiving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054096"/>
            <a:ext cx="47548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create an intake on web or mobile — scan, checklist, 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12463"/>
            <a:ext cx="17373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Kyra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712463"/>
            <a:ext cx="47548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“start receiving SHP-…” and watch it act — by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70831"/>
            <a:ext cx="17373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370831"/>
            <a:ext cx="47548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open, assign, and resolve a quality incident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199"/>
            <a:ext cx="17373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5029199"/>
            <a:ext cx="47548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system health, services, and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593592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956816"/>
            <a:ext cx="301752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DEMO ACCOUNTS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395728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395728"/>
            <a:ext cx="12801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Dock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395728"/>
            <a:ext cx="17373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dock / dock123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054096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054096"/>
            <a:ext cx="12801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54096"/>
            <a:ext cx="17373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qa / qa123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712463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712463"/>
            <a:ext cx="12801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Supervisor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712463"/>
            <a:ext cx="17373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super / super123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7548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Login screen shows role cards with one-click demo sign-in.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16  · 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Where It Can Go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04672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Predictive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ML forecasts for excursion risk per lane and supplier before goods arrive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4581144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Multi-Site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Org-wide fleet of facilities with consolidated, federated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8357615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13969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Audit-Ready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72491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Immutable, exportable records for regulators and customer audits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804672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Expanded AI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Kyra gains replenishment, disposition, and scheduling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4581144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IoT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Live sensor streaming from cold storage zones and in-transit loggers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8357615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4288536"/>
            <a:ext cx="24414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Supplier Scorecards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4873752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Automated quality scorecards tied to intake and excursion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728716" y="1737360"/>
            <a:ext cx="731520" cy="731520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720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114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CryoSync — Cold-Chain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React 19 · Vite 8 · FastAPI · PostgreSQL · Databricks 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02  ·  THE STATUS QUO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The Industry Runs on Siloed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6400800" cy="411480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585216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TODAY’S STACK — A PATCHWORK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286000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ERP &amp; WMS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SAP S/4HANA · SAP EWM · Manhattan · Blue Yonder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89504"/>
            <a:ext cx="274320" cy="1097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2999232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99232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TMS &amp;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99232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SAP TM · Oracle TMS · project44 · FourKites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602736"/>
            <a:ext cx="274320" cy="1097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3712464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12464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QMS &amp; LIMS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12464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MasterControl · TrackWise · STARLIMS · LabWare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315968"/>
            <a:ext cx="274320" cy="1097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" y="4425696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25696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Temp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425696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Sensitech · ELPRO · Vaisala · Cold Chain 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029200"/>
            <a:ext cx="274320" cy="1097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" y="5138928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38928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Manual Glue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138928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Excel workbooks · email threads · paper logbooks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1737360"/>
            <a:ext cx="4416552" cy="411480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874519"/>
            <a:ext cx="38404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WHY IT’S BROKEN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3774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No single source of truth across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8803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Temperature data split from inventory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3832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Manual re-keying + Excel reconciliation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8862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Excursions surface days after arrival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3891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Audits hand-assembled from multiple exports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61888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61888"/>
            <a:ext cx="11091672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CryoSync replaces the patchwork — one system of record from dock to storage zone.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